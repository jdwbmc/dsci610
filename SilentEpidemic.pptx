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434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554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2286000"/>
            <a:ext cx="8942832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Epidemic: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Rising Tide of Diabetes-Related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Cirrhosis Mortality in the United States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3957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20-Year Longitudinal Analysis  ·  1999–2020  ·  CDC WONDER &amp; U.S. Census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971800"/>
            <a:ext cx="2468880" cy="822960"/>
          </a:xfrm>
          <a:prstGeom prst="rect">
            <a:avLst/>
          </a:prstGeom>
          <a:solidFill>
            <a:srgbClr val="8B1A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999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7,178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3456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971800"/>
            <a:ext cx="2468880" cy="822960"/>
          </a:xfrm>
          <a:prstGeom prst="rect">
            <a:avLst/>
          </a:prstGeom>
          <a:solidFill>
            <a:srgbClr val="8B1A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2999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3456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Person-Years of Exposure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2971800"/>
            <a:ext cx="2468880" cy="822960"/>
          </a:xfrm>
          <a:prstGeom prst="rect">
            <a:avLst/>
          </a:prstGeom>
          <a:solidFill>
            <a:srgbClr val="8B1A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2999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3.94×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3456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IRR (AIAN)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114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D. Williams  ·  DSCI-610  ·  CDC WONDER / U.S. Census Bureau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Binomial Regression  ·  Fundamental Cause Theory  ·  Syndemic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Research Questions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certain populations and regions being hit harder?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Diabetes-Related Liver Cirrhosis Mortality  ·  CDC WONDER Analysis 1999–2020  ·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1605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73152" cy="141732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1344168"/>
            <a:ext cx="475488" cy="47548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344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344168"/>
            <a:ext cx="33649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certain racial/ethnic groups dying at disproportionately higher rates?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605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73152" cy="141732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475488" cy="47548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944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944368"/>
            <a:ext cx="33649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the national mortality trajectory changed over 20 years — and where is it heading by 2026?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234440"/>
            <a:ext cx="41605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234440"/>
            <a:ext cx="73152" cy="141732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1344168"/>
            <a:ext cx="475488" cy="47548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344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344168"/>
            <a:ext cx="33649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U.S. census regions represent the highest-risk "hotspots" for specific populations?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834640"/>
            <a:ext cx="41605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73152" cy="141732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944368"/>
            <a:ext cx="475488" cy="47548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2944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944368"/>
            <a:ext cx="33649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COVID-19 pandemic act as a "syndemic" catalyst that accelerated the crisis?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343400"/>
            <a:ext cx="8595360" cy="347472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343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Grounding: 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0" y="4343400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Cause Theory (Phelan &amp; Link, 2015) — health disparities arise from unequal access to money, knowledge, power &amp; social connections  ·  Syndemic Framework (Marjot et al., 2021) — COVID-19 amplified pre-existing chronic disease burdens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Methodology: Giving 'Silent Deaths' a Voice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Overcoming CDC suppression to include all 7,178 records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Diabetes-Related Liver Cirrhosis Mortality  ·  CDC WONDER Analysis 1999–2020  ·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3931920" cy="41148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1664208"/>
            <a:ext cx="256032" cy="256032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66420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of records (1,245) had suppressed crude rates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139696"/>
            <a:ext cx="256032" cy="256032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2139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21396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suppresses death counts of 1–9 to protect privacy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615184"/>
            <a:ext cx="256032" cy="256032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2615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261518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exclusion creates a 'blind spot' for rural &amp; minority communities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090672"/>
            <a:ext cx="256032" cy="256032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3090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309067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leads to systematic underestimation of mortality in vulnerable groups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2651760"/>
            <a:ext cx="548640" cy="3200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0" y="2651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937760" y="1170432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37760" y="1170432"/>
            <a:ext cx="3931920" cy="411480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10912" y="1664208"/>
            <a:ext cx="256032" cy="256032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10912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21808" y="16642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Join: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44768" y="1664208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CDC mortality counts + Census population via tidycensus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10912" y="2139696"/>
            <a:ext cx="256032" cy="256032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10912" y="2139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21808" y="213969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Offset: 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44768" y="2139696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 used as exposure variable — epidemiological standard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10912" y="2615184"/>
            <a:ext cx="256032" cy="256032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10912" y="2615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261518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Imputation: 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2615184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 counts → n=5  ·  Unreliable counts → n=15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10912" y="3090672"/>
            <a:ext cx="256032" cy="256032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10912" y="3090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21808" y="309067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44768" y="3090672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7,178 records included · 10 billion person-years of exposure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617720"/>
            <a:ext cx="8595360" cy="914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Trajectory &amp; the 2026 Forecast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decades of steady climb — then a pandemic rupture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Diabetes-Related Liver Cirrhosis Mortality  ·  CDC WONDER Analysis 1999–2020  ·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27889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2788920" cy="5486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1704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1999–2019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36192" y="11704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Climb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1755648"/>
            <a:ext cx="2606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upward trend in mortality for two decades — the 'steady state' of the epidemic. Consistent 5% annual compounding of risk.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63824" y="1170432"/>
            <a:ext cx="27889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63824" y="1170432"/>
            <a:ext cx="2788920" cy="54864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55264" y="11704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43984" y="11704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Syndemic Surge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55264" y="1755648"/>
            <a:ext cx="2606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'perfect storm': healthcare gridlock from lockdowns · increased alcohol consumption · COVID-19 inflammation pushing stable patients into acute liver failure.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71616" y="1170432"/>
            <a:ext cx="27889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71616" y="1170432"/>
            <a:ext cx="2788920" cy="548640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63056" y="11704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51776" y="11704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63056" y="1755648"/>
            <a:ext cx="2606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to pre-pandemic linear trend. Conservative Baseline: +15.1% by August 2026. Aggressive scenario if pandemic volatility persists: +137%.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611880"/>
            <a:ext cx="8631936" cy="4114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" y="3611880"/>
            <a:ext cx="8631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PROJECTED MORTALITY SCENARIOS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" y="4041648"/>
            <a:ext cx="2606040" cy="329184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1752" y="404164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26080" y="4041648"/>
            <a:ext cx="2084832" cy="329184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71800" y="4041648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Rate (per 100,000)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74920" y="4041648"/>
            <a:ext cx="1307592" cy="329184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4041648"/>
            <a:ext cx="1216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Increase Since 2019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46520" y="4041648"/>
            <a:ext cx="2441448" cy="329184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92240" y="4041648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4389120"/>
            <a:ext cx="26060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01752" y="438912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Forecast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4389120"/>
            <a:ext cx="2084832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71800" y="4389120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74920" y="4389120"/>
            <a:ext cx="1307592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20640" y="4389120"/>
            <a:ext cx="1216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+15.1%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4389120"/>
            <a:ext cx="2441448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92240" y="4389120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— anchored to 20-year linear trend (excl. 2020)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" y="4736592"/>
            <a:ext cx="26060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01752" y="473659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Growth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26080" y="4736592"/>
            <a:ext cx="2084832" cy="32918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971800" y="4736592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74920" y="4736592"/>
            <a:ext cx="1307592" cy="32918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120640" y="4736592"/>
            <a:ext cx="1216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+137%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46520" y="4736592"/>
            <a:ext cx="2441448" cy="32918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92240" y="4736592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pandemic-era volatility in high-risk regions persists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Engine: Negative Binomial Regression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models fail — and how we corrected for 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Diabetes-Related Liver Cirrhosis Mortality  ·  CDC WONDER Analysis 1999–2020  ·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4114800" cy="38404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1752" y="11704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Standard Poisson Model?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" y="1664208"/>
            <a:ext cx="274320" cy="27432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166420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assumes variance = mean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" y="2176272"/>
            <a:ext cx="274320" cy="27432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17627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death counts showed extreme overdispersion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" y="2688336"/>
            <a:ext cx="274320" cy="27432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" y="26883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268833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 pandemic spike was far larger than any standard model could absorb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" y="3200400"/>
            <a:ext cx="274320" cy="27432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32004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Poisson would inflate confidence intervals and distort IRR estimates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170432"/>
            <a:ext cx="4315968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1170432"/>
            <a:ext cx="4315968" cy="384048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17720" y="1170432"/>
            <a:ext cx="4224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Binomial Solution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45152" y="1664208"/>
            <a:ext cx="274320" cy="274320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45152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74336" y="16642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Parameter (α): 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45936" y="166420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correction lens for extra variance — absorbs pandemic volatility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45152" y="2176272"/>
            <a:ext cx="274320" cy="274320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45152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74336" y="2176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Offset: 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45936" y="2176272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log(Population) as exposure variable — calculates true RATE, not raw count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45152" y="2688336"/>
            <a:ext cx="274320" cy="274320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45152" y="26883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74336" y="26883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Fit: 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45936" y="2688336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Deviance/DF ratio = 1.03 — near-perfect fit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45152" y="3200400"/>
            <a:ext cx="274320" cy="274320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45152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74336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IRRs: 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45936" y="32004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 Rate Ratios — how much more likely each group is to die vs. White baseline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6032" y="4617720"/>
            <a:ext cx="8631936" cy="914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of Risk: Incidence Rate Ratios (IRR)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Binomial Regression · Reference Group: White Population · Adjusted for Year &amp; Sex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Diabetes-Related Liver Cirrhosis Mortality  ·  CDC WONDER Analysis 1999–2020  ·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0" cy="3337560"/>
          </a:xfrm>
          <a:prstGeom prst="line">
            <a:avLst/>
          </a:prstGeom>
          <a:noFill/>
          <a:ln w="19050">
            <a:solidFill>
              <a:srgbClr val="8B1A1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051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" y="1207008"/>
            <a:ext cx="8631936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2070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Amer. Indian / AK Native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335024"/>
            <a:ext cx="2150669" cy="2286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8229" y="120700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= 3.94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120700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[3.54, 4.38]  p &lt; 0.001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737360"/>
            <a:ext cx="8631936" cy="475488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17373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865376"/>
            <a:ext cx="629107" cy="228600"/>
          </a:xfrm>
          <a:prstGeom prst="rect">
            <a:avLst/>
          </a:prstGeom>
          <a:solidFill>
            <a:srgbClr val="6B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66667" y="173736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= 1.86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0" y="173736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[1.73, 1.99]  p &lt; 0.001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2267712"/>
            <a:ext cx="8631936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26771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(Male vs. Female)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395728"/>
            <a:ext cx="256032" cy="2286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93592" y="226771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= 1.35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226771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[1.30, 1.41]  p &lt; 0.001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2798064"/>
            <a:ext cx="8631936" cy="475488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279806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(Annual Trend)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926080"/>
            <a:ext cx="91440" cy="228600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29000" y="279806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= 1.05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279806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[1.04, 1.05]  p &lt; 0.001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032" y="3328416"/>
            <a:ext cx="8631936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332841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or African American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87014" y="3456432"/>
            <a:ext cx="204826" cy="228600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64054" y="332841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= 0.72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332841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[0.65, 0.79]  p &lt; 0.001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3858768"/>
            <a:ext cx="8631936" cy="475488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0040" y="38587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/ Pacific Islander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35885" y="3986784"/>
            <a:ext cx="555955" cy="228600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912925" y="385876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= 0.24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0" y="385876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[0.21, 0.27]  p &lt; 0.001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6032" y="4407408"/>
            <a:ext cx="8631936" cy="29260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0040" y="44074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AIAN populations are 3.94× more likely to die from diabetes-related cirrhosis than White populations. The tight CI confirms this is a consistent, high-magnitude crisis — not statistical noise.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#1: The AIAN Crisis in the Midwest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 reveals a regional epicenter beyond the national average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Diabetes-Related Liver Cirrhosis Mortality  ·  CDC WONDER Analysis 1999–2020  ·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2286000" cy="2011680"/>
          </a:xfrm>
          <a:prstGeom prst="rect">
            <a:avLst/>
          </a:prstGeom>
          <a:solidFill>
            <a:srgbClr val="8B1A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234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3.94×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6032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AIAN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Risk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White Baseline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218688"/>
            <a:ext cx="2286000" cy="868680"/>
          </a:xfrm>
          <a:prstGeom prst="rect">
            <a:avLst/>
          </a:prstGeom>
          <a:solidFill>
            <a:srgbClr val="6B0F0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325526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Epicenter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" y="360273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regional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1170432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0" y="1170432"/>
            <a:ext cx="2011680" cy="38404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16352" y="1170432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1664208"/>
            <a:ext cx="128016" cy="12801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17520" y="160934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Midwest functions as the statistical epicenter for AIAN mortality from diabetes-related cirrhosis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34640" y="2212848"/>
            <a:ext cx="128016" cy="12801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0" y="215798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factors compound the already elevated national biological risk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34640" y="2761488"/>
            <a:ext cx="128016" cy="12801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17520" y="270662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Midwest concentration suggests localized structural barriers — not just disease biology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1170432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1170432"/>
            <a:ext cx="2011680" cy="384048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65192" y="1170432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Drivers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1664208"/>
            <a:ext cx="128016" cy="128016"/>
          </a:xfrm>
          <a:prstGeom prst="ellipse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160934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specialized hepatology care in rural tribal areas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83480" y="2212848"/>
            <a:ext cx="128016" cy="128016"/>
          </a:xfrm>
          <a:prstGeom prst="ellipse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215798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of food deserts reducing metabolic disease management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83480" y="2761488"/>
            <a:ext cx="128016" cy="128016"/>
          </a:xfrm>
          <a:prstGeom prst="ellipse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66360" y="270662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isolation from tertiary-care centers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3310128"/>
            <a:ext cx="128016" cy="128016"/>
          </a:xfrm>
          <a:prstGeom prst="ellipse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66360" y="325526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Underfunded Indian Health Service infrastructure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40880" y="1170432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040880" y="1170432"/>
            <a:ext cx="2011680" cy="38404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14032" y="1170432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32320" y="1664208"/>
            <a:ext cx="128016" cy="128016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15200" y="160934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strategy is insufficient — a Midwest-specific intervention is required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32320" y="2212848"/>
            <a:ext cx="128016" cy="128016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15200" y="215798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investment in rural hepatology access in tribal regions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32320" y="2761488"/>
            <a:ext cx="128016" cy="128016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15200" y="270662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Culturally competent metabolic screening programs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370832"/>
            <a:ext cx="8631936" cy="329184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0040" y="437083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Cause Theory:  Health outcomes in the Midwest AIAN context are determined by structural access to resources — not biological inevitability (Phelan &amp; Link, 2015; Collins et al., 2025)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#2: The Hispanic 'Regional Penalty' in the Northeast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relative risk despite lower absolute population density in the region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Diabetes-Related Liver Cirrhosis Mortality  ·  CDC WONDER Analysis 1999–2020  ·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2103120" cy="118872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216152"/>
            <a:ext cx="210312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" y="1883664"/>
            <a:ext cx="210312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Hispanic IRR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White Baseline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2450592"/>
            <a:ext cx="2103120" cy="1188720"/>
          </a:xfrm>
          <a:prstGeom prst="rect">
            <a:avLst/>
          </a:prstGeom>
          <a:solidFill>
            <a:srgbClr val="8B1A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2496312"/>
            <a:ext cx="210312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" y="3163824"/>
            <a:ext cx="210312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Regional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Disparity Ratio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1170432"/>
            <a:ext cx="6373368" cy="4114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14600" y="1170432"/>
            <a:ext cx="6373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HOTSPOT SUMMARY (Table 3)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600200"/>
            <a:ext cx="1207008" cy="420624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0" y="1600200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94760" y="1600200"/>
            <a:ext cx="1216152" cy="420624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0" y="1600200"/>
            <a:ext cx="1124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Risk Group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4920" y="1600200"/>
            <a:ext cx="2542032" cy="420624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0" y="1600200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0" y="1600200"/>
            <a:ext cx="1161288" cy="420624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26680" y="1600200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14600" y="2039112"/>
            <a:ext cx="1207008" cy="42062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0" y="2039112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94760" y="2039112"/>
            <a:ext cx="1216152" cy="42062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0" y="2039112"/>
            <a:ext cx="1124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4920" y="2039112"/>
            <a:ext cx="2542032" cy="42062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0640" y="2039112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epicenter for AIAN mortality; urgent rural health investment needed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80960" y="2039112"/>
            <a:ext cx="1161288" cy="42062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26680" y="2039112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14600" y="2478024"/>
            <a:ext cx="1207008" cy="420624"/>
          </a:xfrm>
          <a:prstGeom prst="rect">
            <a:avLst/>
          </a:prstGeom>
          <a:solidFill>
            <a:srgbClr val="FFF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60320" y="2478024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94760" y="2478024"/>
            <a:ext cx="1216152" cy="420624"/>
          </a:xfrm>
          <a:prstGeom prst="rect">
            <a:avLst/>
          </a:prstGeom>
          <a:solidFill>
            <a:srgbClr val="FFF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40480" y="2478024"/>
            <a:ext cx="1124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74920" y="2478024"/>
            <a:ext cx="2542032" cy="420624"/>
          </a:xfrm>
          <a:prstGeom prst="rect">
            <a:avLst/>
          </a:prstGeom>
          <a:solidFill>
            <a:srgbClr val="FFF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20640" y="2478024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regional penalty; breakdown in urban chronic care systems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680960" y="2478024"/>
            <a:ext cx="1161288" cy="420624"/>
          </a:xfrm>
          <a:prstGeom prst="rect">
            <a:avLst/>
          </a:prstGeom>
          <a:solidFill>
            <a:srgbClr val="FFF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26680" y="2478024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14600" y="2916936"/>
            <a:ext cx="1207008" cy="420624"/>
          </a:xfrm>
          <a:prstGeom prst="rect">
            <a:avLst/>
          </a:prstGeom>
          <a:solidFill>
            <a:srgbClr val="FFF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560320" y="2916936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794760" y="2916936"/>
            <a:ext cx="1216152" cy="420624"/>
          </a:xfrm>
          <a:prstGeom prst="rect">
            <a:avLst/>
          </a:prstGeom>
          <a:solidFill>
            <a:srgbClr val="FFF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840480" y="2916936"/>
            <a:ext cx="1124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Population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74920" y="2916936"/>
            <a:ext cx="2542032" cy="420624"/>
          </a:xfrm>
          <a:prstGeom prst="rect">
            <a:avLst/>
          </a:prstGeom>
          <a:solidFill>
            <a:srgbClr val="FFF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120640" y="2916936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death volume, driven by T2DM prevalence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680960" y="2916936"/>
            <a:ext cx="1161288" cy="420624"/>
          </a:xfrm>
          <a:prstGeom prst="rect">
            <a:avLst/>
          </a:prstGeom>
          <a:solidFill>
            <a:srgbClr val="FFF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26680" y="2916936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14600" y="3429000"/>
            <a:ext cx="6373368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514600" y="3429000"/>
            <a:ext cx="73152" cy="100584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51760" y="34564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Northeast?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651760" y="3794760"/>
            <a:ext cx="6144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South and West having higher total Hispanic populations, the Northeast shows the highest relative risk. Urban density creates unique barriers — metabolic screening gaps, healthcare navigation challenges in high-cost cities like New York and Boston, and language barriers in specialist referral pathways (Manahil et al., 2025).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" y="4462272"/>
            <a:ext cx="8631936" cy="256032"/>
          </a:xfrm>
          <a:prstGeom prst="rect">
            <a:avLst/>
          </a:prstGeom>
          <a:solidFill>
            <a:srgbClr val="E8E4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Enhanced urban metabolic screening, language-accessible hepatology referral pathways, and community health worker programs in Northeast urban centers.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of a secondary data approach — and its honest constraints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Diabetes-Related Liver Cirrhosis Mortality  ·  CDC WONDER Analysis 1999–2020  ·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28346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2834640" cy="38404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1752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Coding Bias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1609344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and cirrhosis often co-exist with other metabolic conditions. The 'primary' cause of death is subject to clinician discretion, which may lead to underreporting of the true comorbidity burden.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170432"/>
            <a:ext cx="28346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7832" y="1170432"/>
            <a:ext cx="2834640" cy="384048"/>
          </a:xfrm>
          <a:prstGeom prst="rect">
            <a:avLst/>
          </a:prstGeom>
          <a:solidFill>
            <a:srgbClr val="6B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73552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Suppressed Records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1609344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n=5 / n=15 imputation for suppressed counts is a best-estimate strategy. These remain estimates, not exact counts — especially impactful for small rural communities.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9632" y="1170432"/>
            <a:ext cx="28346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9632" y="1170432"/>
            <a:ext cx="2834640" cy="38404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45352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 Clinical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91072" y="1609344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mortality data lacks BMI, medication adherence, illness duration, or alcohol use history. We cannot definitively link individual deaths to behavioral factors without granular toxicology records.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401568"/>
            <a:ext cx="8631936" cy="38404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" y="3401568"/>
            <a:ext cx="8631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3813048"/>
            <a:ext cx="8631936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3813048"/>
            <a:ext cx="73152" cy="301752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81304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3813048"/>
            <a:ext cx="6995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national mortality trends to Electronic Health Record data to track diabetes → cirrhosis progression at the individual level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4133088"/>
            <a:ext cx="8631936" cy="301752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4133088"/>
            <a:ext cx="73152" cy="301752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413308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Deep-Dives: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83080" y="4133088"/>
            <a:ext cx="6995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Qualitative, community-based research to identify specific local barriers driving the Midwest AIAN epicenter and Northeast Hispanic penalty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453128"/>
            <a:ext cx="8631936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4453128"/>
            <a:ext cx="73152" cy="301752"/>
          </a:xfrm>
          <a:prstGeom prst="rect">
            <a:avLst/>
          </a:prstGeom>
          <a:solidFill>
            <a:srgbClr val="2A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44531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Refinement: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83080" y="4453128"/>
            <a:ext cx="6995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model with 2021–2024 data as it becomes available to determine whether the Baseline or Aggressive Growth scenario is materializing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 Call for Regionalized Intervention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66760" y="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8631936" cy="594360"/>
          </a:xfrm>
          <a:prstGeom prst="rect">
            <a:avLst/>
          </a:prstGeom>
          <a:solidFill>
            <a:srgbClr val="1E3D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73152" cy="5943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950976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950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89611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epidemic is not uniform — it is a collection of localized crises driven by race and geography, not random national variance.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1554480"/>
            <a:ext cx="8631936" cy="594360"/>
          </a:xfrm>
          <a:prstGeom prst="rect">
            <a:avLst/>
          </a:prstGeom>
          <a:solidFill>
            <a:srgbClr val="1E3D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554480"/>
            <a:ext cx="73152" cy="5943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1609344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1609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15544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AIAN populations face a 3.94× higher mortality risk. This is the 'smoking gun' — a profound health inequality requiring targeted intervention, not broad awareness.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212848"/>
            <a:ext cx="8631936" cy="594360"/>
          </a:xfrm>
          <a:prstGeom prst="rect">
            <a:avLst/>
          </a:prstGeom>
          <a:solidFill>
            <a:srgbClr val="1E3D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212848"/>
            <a:ext cx="73152" cy="5943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" y="2267712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221284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 populations in the Northeast face a ~10× regional disparity ratio — an urban penalty distinct from the Southwest pattern.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2871216"/>
            <a:ext cx="8631936" cy="594360"/>
          </a:xfrm>
          <a:prstGeom prst="rect">
            <a:avLst/>
          </a:prstGeom>
          <a:solidFill>
            <a:srgbClr val="1E3D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2871216"/>
            <a:ext cx="73152" cy="5943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2926080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2871216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 pandemic acted as a syndemic catalyst, but the underlying 20-year trend predicts a +15.1% mortality increase by August 2026 on the conservative forecast.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" y="3529584"/>
            <a:ext cx="8631936" cy="594360"/>
          </a:xfrm>
          <a:prstGeom prst="rect">
            <a:avLst/>
          </a:prstGeom>
          <a:solidFill>
            <a:srgbClr val="1E3D6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3529584"/>
            <a:ext cx="73152" cy="5943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84048" y="3584448"/>
            <a:ext cx="384048" cy="384048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3584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" y="3529584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is not destiny — it is a proxy for structural resource inequity. These disparities are not biological; they are solvable.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6032" y="4251960"/>
            <a:ext cx="8631936" cy="5303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425196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CTA: 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63040" y="425196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rural hepatology access in the Midwest  ·  Enhance urban metabolic screening in the Northeast  ·  Fund targeted 'hotspot' interventions, not broad national awareness campaigns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Diabetes-Related Liver Cirrhosis Mortality  ·  CDC WONDER Analysis 1999–2020  ·  Williams, J.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1619</Words>
  <Application>Microsoft Office PowerPoint</Application>
  <PresentationFormat>On-screen Show (16:9)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Silent Epidemic: Diabetes-Related Liver Cirrhosis Mortality</dc:title>
  <dc:subject>PptxGenJS Presentation</dc:subject>
  <dc:creator>John D. Williams</dc:creator>
  <cp:lastModifiedBy>John Williams</cp:lastModifiedBy>
  <cp:revision>2</cp:revision>
  <dcterms:created xsi:type="dcterms:W3CDTF">2026-04-07T02:24:04Z</dcterms:created>
  <dcterms:modified xsi:type="dcterms:W3CDTF">2026-04-07T02:35:47Z</dcterms:modified>
</cp:coreProperties>
</file>