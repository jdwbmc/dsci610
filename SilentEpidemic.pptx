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8" d="100"/>
          <a:sy n="118" d="100"/>
        </p:scale>
        <p:origin x="434" y="2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25549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2286000"/>
            <a:ext cx="8942832" cy="4572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Silent Epidemic: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11480" y="1115568"/>
            <a:ext cx="8412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 the Rising Tide of Diabetes-Related</a:t>
            </a:r>
            <a:endParaRPr lang="en-US" sz="2600" dirty="0"/>
          </a:p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Liver Cirrhosis Mortality in the United States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239572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D9B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20-Year Longitudinal Analysis  ·  1999–2020  ·  CDC WONDER &amp; U.S. Census Data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2971800"/>
            <a:ext cx="2468880" cy="822960"/>
          </a:xfrm>
          <a:prstGeom prst="rect">
            <a:avLst/>
          </a:prstGeom>
          <a:solidFill>
            <a:srgbClr val="8B1A1A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99923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7,178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11480" y="34564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Analyzed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46120" y="2971800"/>
            <a:ext cx="2468880" cy="822960"/>
          </a:xfrm>
          <a:prstGeom prst="rect">
            <a:avLst/>
          </a:prstGeom>
          <a:solidFill>
            <a:srgbClr val="8B1A1A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46120" y="299923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10B+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46120" y="34564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Person-Years of Exposure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80760" y="2971800"/>
            <a:ext cx="2468880" cy="822960"/>
          </a:xfrm>
          <a:prstGeom prst="rect">
            <a:avLst/>
          </a:prstGeom>
          <a:solidFill>
            <a:srgbClr val="8B1A1A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80760" y="2999232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3.94×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080760" y="34564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IRR (AIAN)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11480" y="41148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John D. Williams  ·  DSCI-610  ·  CDC WONDER / U.S. Census Bureau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" y="44348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Binomial Regression  ·  Fundamental Cause Theory  ·  Syndemic Framework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Research Questions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certain populations and regions being hit harder?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234440"/>
            <a:ext cx="4160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234440"/>
            <a:ext cx="73152" cy="1417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11480" y="1344168"/>
            <a:ext cx="475488" cy="47548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1344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1344168"/>
            <a:ext cx="33649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certain racial/ethnic groups dying at disproportionately higher rates?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4160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834640"/>
            <a:ext cx="73152" cy="1417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11480" y="2944368"/>
            <a:ext cx="475488" cy="47548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80" y="29443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60120" y="2944368"/>
            <a:ext cx="33649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has the national mortality trajectory changed over 20 years — and where is it heading by 2026?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1234440"/>
            <a:ext cx="4160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1234440"/>
            <a:ext cx="73152" cy="1417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46320" y="1344168"/>
            <a:ext cx="475488" cy="47548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46320" y="13441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94960" y="1344168"/>
            <a:ext cx="33649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U.S. census regions represent the highest-risk "hotspots" for specific populations?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09160" y="2834640"/>
            <a:ext cx="4160520" cy="14173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2834640"/>
            <a:ext cx="73152" cy="1417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46320" y="2944368"/>
            <a:ext cx="475488" cy="475488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846320" y="294436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94960" y="2944368"/>
            <a:ext cx="33649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the COVID-19 pandemic act as a "syndemic" catalyst that accelerated the crisis?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343400"/>
            <a:ext cx="8595360" cy="347472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434340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Grounding: 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286000" y="4343400"/>
            <a:ext cx="6492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Cause Theory (Phelan &amp; Link, 2015) — health disparities arise from unequal access to money, knowledge, power &amp; social connections  ·  Syndemic Framework (Marjot et al., 2021) — COVID-19 amplified pre-existing chronic disease burdens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Methodology: Giving 'Silent Deaths' a Voice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Overcoming CDC suppression to include all 7,178 records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170432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74320" y="1170432"/>
            <a:ext cx="3931920" cy="41148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17043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47472" y="1664208"/>
            <a:ext cx="256032" cy="256032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47472" y="16642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8368" y="1664208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 of records (1,245) had suppressed crude rates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47472" y="2139696"/>
            <a:ext cx="256032" cy="256032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7472" y="213969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" y="2139696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suppresses death counts of 1–9 to protect privacy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7472" y="2615184"/>
            <a:ext cx="256032" cy="256032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7472" y="26151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" y="2615184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exclusion creates a 'blind spot' for rural &amp; minority communities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472" y="3090672"/>
            <a:ext cx="256032" cy="256032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7472" y="3090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58368" y="3090672"/>
            <a:ext cx="3429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leads to systematic underestimation of mortality in vulnerable groups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97680" y="2651760"/>
            <a:ext cx="548640" cy="3200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97680" y="265176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4937760" y="1170432"/>
            <a:ext cx="3931920" cy="33832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937760" y="1170432"/>
            <a:ext cx="3931920" cy="411480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983480" y="117043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10912" y="1664208"/>
            <a:ext cx="256032" cy="256032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10912" y="16642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21808" y="1664208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Join: 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144768" y="1664208"/>
            <a:ext cx="2633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Raw CDC mortality counts + Census population denominators (pre-linked by CDC WONDER)</a:t>
            </a:r>
          </a:p>
        </p:txBody>
      </p:sp>
      <p:sp>
        <p:nvSpPr>
          <p:cNvPr id="33" name="Shape 31"/>
          <p:cNvSpPr/>
          <p:nvPr/>
        </p:nvSpPr>
        <p:spPr>
          <a:xfrm>
            <a:off x="5010912" y="2139696"/>
            <a:ext cx="256032" cy="256032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010912" y="213969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321808" y="2139696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Offset: 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44768" y="2139696"/>
            <a:ext cx="2633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population used as exposure variable — epidemiological standard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10912" y="2615184"/>
            <a:ext cx="256032" cy="256032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10912" y="26151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321808" y="2615184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Imputation: 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44768" y="2615184"/>
            <a:ext cx="2633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Suppressed counts → n=5  ·  Unreliable counts → n=15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10912" y="3090672"/>
            <a:ext cx="256032" cy="256032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010912" y="309067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321808" y="3090672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44768" y="3090672"/>
            <a:ext cx="2633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7,178 records included ~10 billion person-years of exposure estimated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" y="4617720"/>
            <a:ext cx="8595360" cy="914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Trajectory &amp; the 2026 Forecast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decades of steady climb — then a pandemic rupture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2788920" cy="2331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" y="1170432"/>
            <a:ext cx="2788920" cy="54864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7472" y="117043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1999–2019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536192" y="1170432"/>
            <a:ext cx="1417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 Climb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" y="1755648"/>
            <a:ext cx="26060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upward trend in mortality for two decades — the 'steady state' of the epidemic. Consistent 5% annual compounding of risk.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163824" y="1170432"/>
            <a:ext cx="2788920" cy="2331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163824" y="1170432"/>
            <a:ext cx="2788920" cy="54864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55264" y="117043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43984" y="1170432"/>
            <a:ext cx="1417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Syndemic Surge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55264" y="1755648"/>
            <a:ext cx="26060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'perfect storm': healthcare gridlock from lockdowns · increased alcohol consumption · COVID-19 inflammation pushing stable patients into acute liver failure.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71616" y="1170432"/>
            <a:ext cx="2788920" cy="2331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71616" y="1170432"/>
            <a:ext cx="2788920" cy="548640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163056" y="1170432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2021–2026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51776" y="1170432"/>
            <a:ext cx="1417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Horizon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63056" y="1755648"/>
            <a:ext cx="260604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Anchored to pre-pandemic linear trend. Conservative Baseline: +15.1% by August 2026. Aggressive scenario if pandemic volatility persists: +137%.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56032" y="3611880"/>
            <a:ext cx="8631936" cy="4114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56032" y="3611880"/>
            <a:ext cx="86319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PROJECTED MORTALITY SCENARIOS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56032" y="4041648"/>
            <a:ext cx="2606040" cy="32918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01752" y="4041648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926080" y="4041648"/>
            <a:ext cx="2084832" cy="32918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2971800" y="4041648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Rate (per 100,000)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74920" y="4041648"/>
            <a:ext cx="1307592" cy="32918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120640" y="4041648"/>
            <a:ext cx="12161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Increase Since 2019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446520" y="4041648"/>
            <a:ext cx="2441448" cy="32918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92240" y="4041648"/>
            <a:ext cx="23500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56032" y="4389120"/>
            <a:ext cx="260604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01752" y="4389120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Forecast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926080" y="4389120"/>
            <a:ext cx="2084832" cy="32918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971800" y="4389120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74920" y="4389120"/>
            <a:ext cx="1307592" cy="32918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120640" y="4389120"/>
            <a:ext cx="12161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+15.1%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46520" y="4389120"/>
            <a:ext cx="2441448" cy="32918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6492240" y="4389120"/>
            <a:ext cx="23500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— anchored to 20-year linear trend (excl. 2020)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56032" y="4736592"/>
            <a:ext cx="2606040" cy="32918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01752" y="4736592"/>
            <a:ext cx="2514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Growth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926080" y="4736592"/>
            <a:ext cx="2084832" cy="329184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971800" y="4736592"/>
            <a:ext cx="199339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074920" y="4736592"/>
            <a:ext cx="1307592" cy="329184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5120640" y="4736592"/>
            <a:ext cx="121615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+137%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446520" y="4736592"/>
            <a:ext cx="2441448" cy="329184"/>
          </a:xfrm>
          <a:prstGeom prst="rect">
            <a:avLst/>
          </a:prstGeom>
          <a:solidFill>
            <a:srgbClr val="FFF0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6492240" y="4736592"/>
            <a:ext cx="23500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pandemic-era volatility in high-risk regions persists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Statistical Engine: Negative Binomial Regression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standard models fail — and how we corrected for 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" y="1170432"/>
            <a:ext cx="4114800" cy="38404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01752" y="1170432"/>
            <a:ext cx="4023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a Standard Poisson Model?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9184" y="1664208"/>
            <a:ext cx="274320" cy="274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" y="1664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" y="1664208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assumes variance = mean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184" y="2176272"/>
            <a:ext cx="274320" cy="274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9184" y="21762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8368" y="2176272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death counts showed extreme overdispersion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" y="2688336"/>
            <a:ext cx="274320" cy="274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9184" y="26883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" y="268833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2020 pandemic spike was far larger than any standard model could absorb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184" y="3200400"/>
            <a:ext cx="274320" cy="27432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9184" y="3200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58368" y="3200400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Poisson would inflate confidence intervals and distort IRR estimates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0" y="1170432"/>
            <a:ext cx="4315968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572000" y="1170432"/>
            <a:ext cx="4315968" cy="384048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17720" y="1170432"/>
            <a:ext cx="422452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Negative Binomial Solution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645152" y="1664208"/>
            <a:ext cx="274320" cy="274320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645152" y="1664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74336" y="166420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Dispersion Parameter (α): 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45936" y="1664208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 correction lens for extra variance — absorbs pandemic volatility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45152" y="2176272"/>
            <a:ext cx="274320" cy="274320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45152" y="21762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974336" y="2176272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Offset: 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45936" y="2176272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log(Population) as exposure variable — calculates true RATE, not raw count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45152" y="2688336"/>
            <a:ext cx="274320" cy="274320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45152" y="26883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74336" y="268833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Fit: 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45936" y="2688336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Deviance/DF ratio = 1.03 — near-perfect fit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45152" y="3200400"/>
            <a:ext cx="274320" cy="274320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645152" y="320040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974336" y="32004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IRRs: 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45936" y="3200400"/>
            <a:ext cx="24505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 Rate Ratios — how much more likely each group is to die vs. White baseline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56032" y="4617720"/>
            <a:ext cx="8631936" cy="9144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of Risk: Incidence Rate Ratios (IRR)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Binomial Regression · Reference Group: White Population · Adjusted for Year &amp; Sex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91840" y="1143000"/>
            <a:ext cx="0" cy="3337560"/>
          </a:xfrm>
          <a:prstGeom prst="line">
            <a:avLst/>
          </a:prstGeom>
          <a:noFill/>
          <a:ln w="19050">
            <a:solidFill>
              <a:srgbClr val="8B1A1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926080" y="1051560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(baseline)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56032" y="1207008"/>
            <a:ext cx="8631936" cy="4754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120700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Amer. Indian / AK Native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335024"/>
            <a:ext cx="2150669" cy="22860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8229" y="1207008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3.94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0" y="1207008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[3.54, 4.38]  p &lt; 0.001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56032" y="1737360"/>
            <a:ext cx="8631936" cy="475488"/>
          </a:xfrm>
          <a:prstGeom prst="rect">
            <a:avLst/>
          </a:prstGeom>
          <a:solidFill>
            <a:srgbClr val="F5F0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1737360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Hispanic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0" y="1865376"/>
            <a:ext cx="629107" cy="228600"/>
          </a:xfrm>
          <a:prstGeom prst="rect">
            <a:avLst/>
          </a:prstGeom>
          <a:solidFill>
            <a:srgbClr val="6B0F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966667" y="1737360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1.86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0" y="173736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[1.73, 1.99]  p &lt; 0.001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56032" y="2267712"/>
            <a:ext cx="8631936" cy="4754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0040" y="2267712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(Male vs. Female)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91840" y="2395728"/>
            <a:ext cx="256032" cy="22860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593592" y="2267712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1.35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0" y="2267712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[1.30, 1.41]  p &lt; 0.001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56032" y="2798064"/>
            <a:ext cx="8631936" cy="475488"/>
          </a:xfrm>
          <a:prstGeom prst="rect">
            <a:avLst/>
          </a:prstGeom>
          <a:solidFill>
            <a:srgbClr val="F5F0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320040" y="2798064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(Annual Trend)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91840" y="2926080"/>
            <a:ext cx="91440" cy="228600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29000" y="2798064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1.05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315200" y="2798064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[1.04, 1.05]  p &lt; 0.001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56032" y="3328416"/>
            <a:ext cx="8631936" cy="47548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20040" y="3328416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or African American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087014" y="3456432"/>
            <a:ext cx="204826" cy="228600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264054" y="3328416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0.72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15200" y="3328416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[0.65, 0.79]  p &lt; 0.001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56032" y="3858768"/>
            <a:ext cx="8631936" cy="475488"/>
          </a:xfrm>
          <a:prstGeom prst="rect">
            <a:avLst/>
          </a:prstGeom>
          <a:solidFill>
            <a:srgbClr val="F5F0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20040" y="3858768"/>
            <a:ext cx="2834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Asian / Pacific Islander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35885" y="3986784"/>
            <a:ext cx="555955" cy="228600"/>
          </a:xfrm>
          <a:prstGeom prst="rect">
            <a:avLst/>
          </a:prstGeom>
          <a:solidFill>
            <a:srgbClr val="6B6B6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1912925" y="3858768"/>
            <a:ext cx="822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= 0.24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15200" y="3858768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[0.21, 0.27]  p &lt; 0.001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256032" y="4407408"/>
            <a:ext cx="8631936" cy="2926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320040" y="4407408"/>
            <a:ext cx="8503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AIAN populations are 3.94× more likely to die from diabetes-related cirrhosis than White populations. The tight CI confirms this is a consistent, high-magnitude crisis — not statistical noise.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#1: The AIAN Crisis in the Midwest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concentration reveals a regional epicenter beyond the national average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2286000" cy="2011680"/>
          </a:xfrm>
          <a:prstGeom prst="rect">
            <a:avLst/>
          </a:prstGeom>
          <a:solidFill>
            <a:srgbClr val="8B1A1A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3.94×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256032" y="201168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AIAN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Mortality Risk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White Baseline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6032" y="3218688"/>
            <a:ext cx="2286000" cy="868680"/>
          </a:xfrm>
          <a:prstGeom prst="rect">
            <a:avLst/>
          </a:prstGeom>
          <a:solidFill>
            <a:srgbClr val="6B0F0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6032" y="325526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Epicenter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6032" y="3602736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regional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1170432"/>
            <a:ext cx="20116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743200" y="1170432"/>
            <a:ext cx="2011680" cy="3840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816352" y="1170432"/>
            <a:ext cx="18653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834640" y="1664208"/>
            <a:ext cx="128016" cy="12801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17520" y="160934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functions as the statistical epicenter for AIAN mortality from diabetes-related cirrhosis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834640" y="2212848"/>
            <a:ext cx="128016" cy="12801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017520" y="215798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factors compound the already elevated national biological risk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834640" y="2761488"/>
            <a:ext cx="128016" cy="128016"/>
          </a:xfrm>
          <a:prstGeom prst="ellipse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17520" y="270662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Midwest concentration suggests localized structural barriers — not just disease biology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892040" y="1170432"/>
            <a:ext cx="20116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92040" y="1170432"/>
            <a:ext cx="2011680" cy="384048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65192" y="1170432"/>
            <a:ext cx="18653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Drivers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83480" y="1664208"/>
            <a:ext cx="128016" cy="128016"/>
          </a:xfrm>
          <a:prstGeom prst="ellipse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166360" y="160934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access to specialized hepatology care in rural tribal areas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983480" y="2212848"/>
            <a:ext cx="128016" cy="128016"/>
          </a:xfrm>
          <a:prstGeom prst="ellipse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66360" y="215798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Prevalence of food deserts reducing metabolic disease management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983480" y="2761488"/>
            <a:ext cx="128016" cy="128016"/>
          </a:xfrm>
          <a:prstGeom prst="ellipse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166360" y="270662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isolation from tertiary-care centers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3310128"/>
            <a:ext cx="128016" cy="128016"/>
          </a:xfrm>
          <a:prstGeom prst="ellipse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166360" y="325526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Underfunded Indian Health Service infrastructure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040880" y="1170432"/>
            <a:ext cx="201168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7040880" y="1170432"/>
            <a:ext cx="2011680" cy="38404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114032" y="1170432"/>
            <a:ext cx="18653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132320" y="1664208"/>
            <a:ext cx="128016" cy="128016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315200" y="160934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national strategy is insufficient — a Midwest-specific intervention is required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132320" y="2212848"/>
            <a:ext cx="128016" cy="128016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315200" y="215798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investment in rural hepatology access in tribal regions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132320" y="2761488"/>
            <a:ext cx="128016" cy="128016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315200" y="2706624"/>
            <a:ext cx="166420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Culturally competent metabolic screening programs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56032" y="4370832"/>
            <a:ext cx="8631936" cy="32918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20040" y="4370832"/>
            <a:ext cx="8503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Cause Theory:  Health outcomes in the Midwest AIAN context are determined by structural access to resources — not biological inevitability (Phelan &amp; Link, 2015; Collins et al., 2025)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Hotspot #2: The Hispanic 'Regional Penalty' in the Northeast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relative risk despite lower absolute population density in the region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2103120" cy="1188720"/>
          </a:xfrm>
          <a:prstGeom prst="rect">
            <a:avLst/>
          </a:prstGeom>
          <a:solidFill>
            <a:srgbClr val="1B3A5C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56032" y="1216152"/>
            <a:ext cx="2103120" cy="689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1.86×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" y="1883664"/>
            <a:ext cx="2103120" cy="451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Hispanic IRR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White Baseline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" y="2450592"/>
            <a:ext cx="2103120" cy="1188720"/>
          </a:xfrm>
          <a:prstGeom prst="rect">
            <a:avLst/>
          </a:prstGeom>
          <a:solidFill>
            <a:srgbClr val="8B1A1A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6032" y="2496312"/>
            <a:ext cx="2103120" cy="6894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~10×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56032" y="3163824"/>
            <a:ext cx="2103120" cy="4517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Northeast Regional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Disparity Ratio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514600" y="1170432"/>
            <a:ext cx="6373368" cy="41148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514600" y="1170432"/>
            <a:ext cx="637336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HOTSPOT SUMMARY (Table 3)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600200"/>
            <a:ext cx="1207008" cy="42062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560320" y="1600200"/>
            <a:ext cx="1115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794760" y="1600200"/>
            <a:ext cx="1216152" cy="42062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840480" y="1600200"/>
            <a:ext cx="1124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Risk Group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74920" y="1600200"/>
            <a:ext cx="2542032" cy="42062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120640" y="1600200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0" y="1600200"/>
            <a:ext cx="1161288" cy="420624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26680" y="1600200"/>
            <a:ext cx="1069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514600" y="2039112"/>
            <a:ext cx="1207008" cy="420624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2560320" y="2039112"/>
            <a:ext cx="1115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Midwest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794760" y="2039112"/>
            <a:ext cx="1216152" cy="420624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840480" y="2039112"/>
            <a:ext cx="1124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074920" y="2039112"/>
            <a:ext cx="2542032" cy="420624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120640" y="2039112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epicenter for AIAN mortality; urgent rural health investment needed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7680960" y="2039112"/>
            <a:ext cx="1161288" cy="420624"/>
          </a:xfrm>
          <a:prstGeom prst="rect">
            <a:avLst/>
          </a:prstGeom>
          <a:solidFill>
            <a:srgbClr val="FFF5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726680" y="2039112"/>
            <a:ext cx="1069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514600" y="2478024"/>
            <a:ext cx="1207008" cy="420624"/>
          </a:xfrm>
          <a:prstGeom prst="rect">
            <a:avLst/>
          </a:prstGeom>
          <a:solidFill>
            <a:srgbClr val="FFF8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560320" y="2478024"/>
            <a:ext cx="1115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Northeast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794760" y="2478024"/>
            <a:ext cx="1216152" cy="420624"/>
          </a:xfrm>
          <a:prstGeom prst="rect">
            <a:avLst/>
          </a:prstGeom>
          <a:solidFill>
            <a:srgbClr val="FFF8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3840480" y="2478024"/>
            <a:ext cx="1124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Hispanic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74920" y="2478024"/>
            <a:ext cx="2542032" cy="420624"/>
          </a:xfrm>
          <a:prstGeom prst="rect">
            <a:avLst/>
          </a:prstGeom>
          <a:solidFill>
            <a:srgbClr val="FFF8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120640" y="2478024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regional penalty; breakdown in urban chronic care systems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680960" y="2478024"/>
            <a:ext cx="1161288" cy="420624"/>
          </a:xfrm>
          <a:prstGeom prst="rect">
            <a:avLst/>
          </a:prstGeom>
          <a:solidFill>
            <a:srgbClr val="FFF8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726680" y="2478024"/>
            <a:ext cx="1069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B0F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514600" y="2916936"/>
            <a:ext cx="1207008" cy="420624"/>
          </a:xfrm>
          <a:prstGeom prst="rect">
            <a:avLst/>
          </a:prstGeom>
          <a:solidFill>
            <a:srgbClr val="FFF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560320" y="2916936"/>
            <a:ext cx="111556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794760" y="2916936"/>
            <a:ext cx="1216152" cy="420624"/>
          </a:xfrm>
          <a:prstGeom prst="rect">
            <a:avLst/>
          </a:prstGeom>
          <a:solidFill>
            <a:srgbClr val="FFF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840480" y="2916936"/>
            <a:ext cx="112471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Population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074920" y="2916936"/>
            <a:ext cx="2542032" cy="420624"/>
          </a:xfrm>
          <a:prstGeom prst="rect">
            <a:avLst/>
          </a:prstGeom>
          <a:solidFill>
            <a:srgbClr val="FFF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5120640" y="2916936"/>
            <a:ext cx="245059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total death volume, driven by T2DM prevalence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680960" y="2916936"/>
            <a:ext cx="1161288" cy="420624"/>
          </a:xfrm>
          <a:prstGeom prst="rect">
            <a:avLst/>
          </a:prstGeom>
          <a:solidFill>
            <a:srgbClr val="FFFC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7726680" y="2916936"/>
            <a:ext cx="106984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514600" y="3429000"/>
            <a:ext cx="6373368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2514600" y="3429000"/>
            <a:ext cx="73152" cy="100584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651760" y="34564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Northeast?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2651760" y="3794760"/>
            <a:ext cx="614476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the South and West having higher total Hispanic populations, the Northeast shows the highest relative risk. Urban density creates unique barriers — metabolic screening gaps, healthcare navigation challenges in high-cost cities like New York and Boston, and language barriers in specialist referral pathways (Manahil et al., 2025).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256032" y="4462272"/>
            <a:ext cx="8631936" cy="256032"/>
          </a:xfrm>
          <a:prstGeom prst="rect">
            <a:avLst/>
          </a:prstGeom>
          <a:solidFill>
            <a:srgbClr val="E8E4D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320040" y="4462272"/>
            <a:ext cx="8503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Policy: Enhanced urban metabolic screening, language-accessible hepatology referral pathways, and community health worker programs in Northeast urban centers.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8F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56032" y="0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Directions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56032" y="74980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of a secondary data approach — and its honest constraints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32104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0B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56032" y="1170432"/>
            <a:ext cx="283464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56032" y="1170432"/>
            <a:ext cx="2834640" cy="38404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01752" y="11704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 Coding Bias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47472" y="1609344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and cirrhosis often co-exist with other metabolic conditions. The 'primary' cause of death is subject to clinician discretion, which may lead to underreporting of the true comorbidity burden.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27832" y="1170432"/>
            <a:ext cx="283464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227832" y="1170432"/>
            <a:ext cx="2834640" cy="384048"/>
          </a:xfrm>
          <a:prstGeom prst="rect">
            <a:avLst/>
          </a:prstGeom>
          <a:solidFill>
            <a:srgbClr val="6B0F0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73552" y="11704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Imputed Suppressed Records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319272" y="1609344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n=5 / n=15 imputation for suppressed counts is a best-estimate strategy. These remain estimates, not exact counts — especially impactful for small rural communities.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99632" y="1170432"/>
            <a:ext cx="2834640" cy="2148840"/>
          </a:xfrm>
          <a:prstGeom prst="rect">
            <a:avLst/>
          </a:prstGeom>
          <a:solidFill>
            <a:srgbClr val="FFFFFF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99632" y="1170432"/>
            <a:ext cx="2834640" cy="3840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245352" y="1170432"/>
            <a:ext cx="2743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Individual Clinical Data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291072" y="1609344"/>
            <a:ext cx="2651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mortality data lacks BMI, medication adherence, illness duration, or alcohol use history. We cannot definitively link individual deaths to behavioral factors without granular toxicology records.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6032" y="3401568"/>
            <a:ext cx="8631936" cy="384048"/>
          </a:xfrm>
          <a:prstGeom prst="rect">
            <a:avLst/>
          </a:prstGeom>
          <a:solidFill>
            <a:srgbClr val="1B3A5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56032" y="3401568"/>
            <a:ext cx="86319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RESEARCH DIRECTIONS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6032" y="3813048"/>
            <a:ext cx="8631936" cy="3017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56032" y="3813048"/>
            <a:ext cx="73152" cy="301752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84048" y="3813048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Integration: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783080" y="3813048"/>
            <a:ext cx="69951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national mortality trends to Electronic Health Record data to track diabetes → cirrhosis progression at the individual level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6032" y="4133088"/>
            <a:ext cx="8631936" cy="301752"/>
          </a:xfrm>
          <a:prstGeom prst="rect">
            <a:avLst/>
          </a:prstGeom>
          <a:solidFill>
            <a:srgbClr val="F5F0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256032" y="4133088"/>
            <a:ext cx="73152" cy="301752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84048" y="4133088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Deep-Dives: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783080" y="4133088"/>
            <a:ext cx="69951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Qualitative, community-based research to identify specific local barriers driving the Midwest AIAN epicenter and Northeast Hispanic penalty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032" y="4453128"/>
            <a:ext cx="8631936" cy="30175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256032" y="4453128"/>
            <a:ext cx="73152" cy="301752"/>
          </a:xfrm>
          <a:prstGeom prst="rect">
            <a:avLst/>
          </a:prstGeom>
          <a:solidFill>
            <a:srgbClr val="2A7F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84048" y="4453128"/>
            <a:ext cx="137160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Refinement: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783080" y="4453128"/>
            <a:ext cx="699516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model with 2021–2024 data as it becomes available to determine whether the Baseline or Aggressive Growth scenario is materializing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28600" y="0"/>
            <a:ext cx="85953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A Call for Regionalized Intervention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66760" y="0"/>
            <a:ext cx="685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032" y="896112"/>
            <a:ext cx="8631936" cy="594360"/>
          </a:xfrm>
          <a:prstGeom prst="rect">
            <a:avLst/>
          </a:prstGeom>
          <a:solidFill>
            <a:srgbClr val="1E3D6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56032" y="896112"/>
            <a:ext cx="73152" cy="5943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84048" y="950976"/>
            <a:ext cx="384048" cy="384048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84048" y="95097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41248" y="896112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epidemic is not uniform — it is a collection of localized crises driven by race and geography, not random national variance.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56032" y="1554480"/>
            <a:ext cx="8631936" cy="594360"/>
          </a:xfrm>
          <a:prstGeom prst="rect">
            <a:avLst/>
          </a:prstGeom>
          <a:solidFill>
            <a:srgbClr val="1E3D6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56032" y="1554480"/>
            <a:ext cx="73152" cy="5943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84048" y="1609344"/>
            <a:ext cx="384048" cy="384048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84048" y="160934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1554480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AIAN populations face a 3.94× higher mortality risk. This is the 'smoking gun' — a profound health inequality requiring targeted intervention, not broad awareness.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56032" y="2212848"/>
            <a:ext cx="8631936" cy="594360"/>
          </a:xfrm>
          <a:prstGeom prst="rect">
            <a:avLst/>
          </a:prstGeom>
          <a:solidFill>
            <a:srgbClr val="1E3D6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56032" y="2212848"/>
            <a:ext cx="73152" cy="5943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84048" y="2267712"/>
            <a:ext cx="384048" cy="384048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84048" y="22677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41248" y="2212848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Hispanic populations in the Northeast face a ~10× regional disparity ratio — an urban penalty distinct from the Southwest pattern.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6032" y="2871216"/>
            <a:ext cx="8631936" cy="594360"/>
          </a:xfrm>
          <a:prstGeom prst="rect">
            <a:avLst/>
          </a:prstGeom>
          <a:solidFill>
            <a:srgbClr val="1E3D6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56032" y="2871216"/>
            <a:ext cx="73152" cy="5943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84048" y="2926080"/>
            <a:ext cx="384048" cy="384048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84048" y="2926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1248" y="2871216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2020 pandemic acted as a syndemic catalyst, but the underlying 20-year trend predicts a +15.1% mortality increase by August 2026 on the conservative forecast.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56032" y="3529584"/>
            <a:ext cx="8631936" cy="594360"/>
          </a:xfrm>
          <a:prstGeom prst="rect">
            <a:avLst/>
          </a:prstGeom>
          <a:solidFill>
            <a:srgbClr val="1E3D60"/>
          </a:solidFill>
          <a:ln/>
          <a:effectLst>
            <a:outerShdw blurRad="635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56032" y="3529584"/>
            <a:ext cx="73152" cy="594360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84048" y="3584448"/>
            <a:ext cx="384048" cy="384048"/>
          </a:xfrm>
          <a:prstGeom prst="ellipse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84048" y="35844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4A8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41248" y="3529584"/>
            <a:ext cx="7955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is not destiny — it is a proxy for structural resource inequity. These disparities are not biological; they are solvable.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256032" y="4251960"/>
            <a:ext cx="8631936" cy="530352"/>
          </a:xfrm>
          <a:prstGeom prst="rect">
            <a:avLst/>
          </a:prstGeom>
          <a:solidFill>
            <a:srgbClr val="D4A84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20040" y="4251960"/>
            <a:ext cx="11887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CTA:  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463040" y="4251960"/>
            <a:ext cx="7315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rural hepatology access in the Midwest  ·  Enhance urban metabolic screening in the Northeast  ·  Fund targeted 'hotspot' interventions, not broad national awareness campaigns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8B1A1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182880" y="4773168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5D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Diabetes-Related Liver Cirrhosis Mortality  ·  CDC WONDER Analysis 1999–2020  ·  Williams, J.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1625</Words>
  <Application>Microsoft Office PowerPoint</Application>
  <PresentationFormat>On-screen Show (16:9)</PresentationFormat>
  <Paragraphs>231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Silent Epidemic: Diabetes-Related Liver Cirrhosis Mortality</dc:title>
  <dc:subject>PptxGenJS Presentation</dc:subject>
  <dc:creator>John D. Williams</dc:creator>
  <cp:lastModifiedBy>John Williams</cp:lastModifiedBy>
  <cp:revision>4</cp:revision>
  <dcterms:created xsi:type="dcterms:W3CDTF">2026-04-07T02:24:04Z</dcterms:created>
  <dcterms:modified xsi:type="dcterms:W3CDTF">2026-04-14T04:29:59Z</dcterms:modified>
</cp:coreProperties>
</file>